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Gordita" charset="1" panose="00000000000000000000"/>
      <p:regular r:id="rId17"/>
    </p:embeddedFont>
    <p:embeddedFont>
      <p:font typeface="Gordita Bold" charset="1" panose="00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mailto:umer.saeed@beds.ac.uk" TargetMode="External" Type="http://schemas.openxmlformats.org/officeDocument/2006/relationships/hyperlink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106149" y="0"/>
            <a:ext cx="4181851" cy="10287000"/>
            <a:chOff x="0" y="0"/>
            <a:chExt cx="11013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1393" cy="2709333"/>
            </a:xfrm>
            <a:custGeom>
              <a:avLst/>
              <a:gdLst/>
              <a:ahLst/>
              <a:cxnLst/>
              <a:rect r="r" b="b" t="t" l="l"/>
              <a:pathLst>
                <a:path h="2709333" w="1101393">
                  <a:moveTo>
                    <a:pt x="0" y="0"/>
                  </a:moveTo>
                  <a:lnTo>
                    <a:pt x="1101393" y="0"/>
                  </a:lnTo>
                  <a:lnTo>
                    <a:pt x="110139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98C4E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101393" cy="27283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0"/>
                </a:lnSpc>
              </a:pPr>
            </a:p>
            <a:p>
              <a:pPr algn="ctr">
                <a:lnSpc>
                  <a:spcPts val="2600"/>
                </a:lnSpc>
              </a:pPr>
            </a:p>
            <a:p>
              <a:pPr algn="ctr">
                <a:lnSpc>
                  <a:spcPts val="2600"/>
                </a:lnSpc>
              </a:pPr>
            </a:p>
            <a:p>
              <a:pPr algn="ctr">
                <a:lnSpc>
                  <a:spcPts val="2600"/>
                </a:lnSpc>
              </a:pPr>
            </a:p>
            <a:p>
              <a:pPr algn="ctr">
                <a:lnSpc>
                  <a:spcPts val="2600"/>
                </a:lnSpc>
              </a:pPr>
            </a:p>
            <a:p>
              <a:pPr algn="ctr">
                <a:lnSpc>
                  <a:spcPts val="2600"/>
                </a:lnSpc>
              </a:pPr>
            </a:p>
            <a:p>
              <a:pPr algn="ctr">
                <a:lnSpc>
                  <a:spcPts val="2600"/>
                </a:lnSpc>
              </a:pPr>
            </a:p>
            <a:p>
              <a:pPr algn="ctr">
                <a:lnSpc>
                  <a:spcPts val="2600"/>
                </a:lnSpc>
              </a:pPr>
            </a:p>
            <a:p>
              <a:pPr algn="ctr">
                <a:lnSpc>
                  <a:spcPts val="2600"/>
                </a:lnSpc>
              </a:pPr>
            </a:p>
            <a:p>
              <a:pPr algn="ctr">
                <a:lnSpc>
                  <a:spcPts val="2600"/>
                </a:lnSpc>
              </a:pPr>
            </a:p>
            <a:p>
              <a:pPr algn="ctr">
                <a:lnSpc>
                  <a:spcPts val="2600"/>
                </a:lnSpc>
              </a:pPr>
            </a:p>
            <a:p>
              <a:pPr algn="ctr">
                <a:lnSpc>
                  <a:spcPts val="2600"/>
                </a:lnSpc>
              </a:pPr>
            </a:p>
            <a:p>
              <a:pPr algn="ctr">
                <a:lnSpc>
                  <a:spcPts val="2600"/>
                </a:lnSpc>
              </a:pPr>
            </a:p>
            <a:p>
              <a:pPr algn="ctr">
                <a:lnSpc>
                  <a:spcPts val="2600"/>
                </a:lnSpc>
              </a:pPr>
            </a:p>
            <a:p>
              <a:pPr algn="ctr">
                <a:lnSpc>
                  <a:spcPts val="2600"/>
                </a:lnSpc>
              </a:pPr>
            </a:p>
            <a:p>
              <a:pPr algn="ctr">
                <a:lnSpc>
                  <a:spcPts val="2600"/>
                </a:lnSpc>
              </a:pPr>
            </a:p>
            <a:p>
              <a:pPr algn="ctr">
                <a:lnSpc>
                  <a:spcPts val="2600"/>
                </a:lnSpc>
              </a:pPr>
            </a:p>
            <a:p>
              <a:pPr algn="ctr">
                <a:lnSpc>
                  <a:spcPts val="2600"/>
                </a:lnSpc>
              </a:pPr>
            </a:p>
            <a:p>
              <a:pPr algn="ctr">
                <a:lnSpc>
                  <a:spcPts val="2600"/>
                </a:lnSpc>
              </a:pPr>
            </a:p>
            <a:p>
              <a:pPr algn="ctr">
                <a:lnSpc>
                  <a:spcPts val="2600"/>
                </a:lnSpc>
              </a:pPr>
            </a:p>
            <a:p>
              <a:pPr algn="ctr">
                <a:lnSpc>
                  <a:spcPts val="2600"/>
                </a:lnSpc>
              </a:pPr>
            </a:p>
            <a:p>
              <a:pPr algn="ctr">
                <a:lnSpc>
                  <a:spcPts val="2600"/>
                </a:lnSpc>
              </a:pPr>
            </a:p>
            <a:p>
              <a:pPr algn="ctr">
                <a:lnSpc>
                  <a:spcPts val="2600"/>
                </a:lnSpc>
              </a:pPr>
            </a:p>
            <a:p>
              <a:pPr algn="ctr">
                <a:lnSpc>
                  <a:spcPts val="2600"/>
                </a:lnSpc>
              </a:pPr>
            </a:p>
            <a:p>
              <a:pPr algn="l" marL="388622" indent="-194311" lvl="1">
                <a:lnSpc>
                  <a:spcPts val="2340"/>
                </a:lnSpc>
                <a:buFont typeface="Arial"/>
                <a:buChar char="•"/>
              </a:pPr>
              <a:r>
                <a:rPr lang="en-US" sz="1800">
                  <a:solidFill>
                    <a:srgbClr val="222152"/>
                  </a:solidFill>
                  <a:latin typeface="Gordita"/>
                  <a:ea typeface="Gordita"/>
                  <a:cs typeface="Gordita"/>
                  <a:sym typeface="Gordita"/>
                </a:rPr>
                <a:t>All resources and references used to create these slides can be found on the final "Resources" slide at the end of the presentation and in the BREO resource section.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5143500"/>
            <a:ext cx="14106149" cy="5143500"/>
            <a:chOff x="0" y="0"/>
            <a:chExt cx="2185412" cy="79686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85412" cy="796863"/>
            </a:xfrm>
            <a:custGeom>
              <a:avLst/>
              <a:gdLst/>
              <a:ahLst/>
              <a:cxnLst/>
              <a:rect r="r" b="b" t="t" l="l"/>
              <a:pathLst>
                <a:path h="796863" w="2185412">
                  <a:moveTo>
                    <a:pt x="0" y="0"/>
                  </a:moveTo>
                  <a:lnTo>
                    <a:pt x="2185412" y="0"/>
                  </a:lnTo>
                  <a:lnTo>
                    <a:pt x="2185412" y="796863"/>
                  </a:lnTo>
                  <a:lnTo>
                    <a:pt x="0" y="796863"/>
                  </a:lnTo>
                  <a:close/>
                </a:path>
              </a:pathLst>
            </a:custGeom>
            <a:blipFill>
              <a:blip r:embed="rId2"/>
              <a:stretch>
                <a:fillRect l="0" t="-38617" r="0" b="-38617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4362401" y="522427"/>
            <a:ext cx="3590228" cy="577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07"/>
              </a:lnSpc>
              <a:spcBef>
                <a:spcPct val="0"/>
              </a:spcBef>
            </a:pPr>
            <a:r>
              <a:rPr lang="en-US" b="true" sz="3362">
                <a:solidFill>
                  <a:srgbClr val="000000"/>
                </a:solidFill>
                <a:latin typeface="Gordita Bold"/>
                <a:ea typeface="Gordita Bold"/>
                <a:cs typeface="Gordita Bold"/>
                <a:sym typeface="Gordita Bold"/>
              </a:rPr>
              <a:t>LECTURER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362401" y="1191581"/>
            <a:ext cx="3590228" cy="4697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2914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Dr Massoud Khodadadzadeh</a:t>
            </a:r>
          </a:p>
          <a:p>
            <a:pPr algn="l">
              <a:lnSpc>
                <a:spcPts val="2740"/>
              </a:lnSpc>
            </a:pPr>
            <a:r>
              <a:rPr lang="en-US" sz="1957">
                <a:solidFill>
                  <a:srgbClr val="FF3B4B"/>
                </a:solidFill>
                <a:latin typeface="Gordita"/>
                <a:ea typeface="Gordita"/>
                <a:cs typeface="Gordita"/>
                <a:sym typeface="Gordita"/>
              </a:rPr>
              <a:t>Massoud.Khodadadzadeh@beds.ac.uk</a:t>
            </a:r>
          </a:p>
          <a:p>
            <a:pPr algn="l">
              <a:lnSpc>
                <a:spcPts val="2040"/>
              </a:lnSpc>
            </a:pPr>
          </a:p>
          <a:p>
            <a:pPr algn="l">
              <a:lnSpc>
                <a:spcPts val="2040"/>
              </a:lnSpc>
            </a:pPr>
          </a:p>
          <a:p>
            <a:pPr algn="l">
              <a:lnSpc>
                <a:spcPts val="4707"/>
              </a:lnSpc>
            </a:pPr>
            <a:r>
              <a:rPr lang="en-US" sz="3362" b="true">
                <a:solidFill>
                  <a:srgbClr val="000000"/>
                </a:solidFill>
                <a:latin typeface="Gordita Bold"/>
                <a:ea typeface="Gordita Bold"/>
                <a:cs typeface="Gordita Bold"/>
                <a:sym typeface="Gordita Bold"/>
              </a:rPr>
              <a:t>Tutor</a:t>
            </a:r>
          </a:p>
          <a:p>
            <a:pPr algn="l">
              <a:lnSpc>
                <a:spcPts val="4079"/>
              </a:lnSpc>
            </a:pPr>
            <a:r>
              <a:rPr lang="en-US" sz="2914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Dr Umer Saeed</a:t>
            </a:r>
          </a:p>
          <a:p>
            <a:pPr algn="l">
              <a:lnSpc>
                <a:spcPts val="2739"/>
              </a:lnSpc>
            </a:pPr>
            <a:r>
              <a:rPr lang="en-US" sz="1957" u="sng">
                <a:solidFill>
                  <a:srgbClr val="FF3B4B"/>
                </a:solidFill>
                <a:latin typeface="Gordita"/>
                <a:ea typeface="Gordita"/>
                <a:cs typeface="Gordita"/>
                <a:sym typeface="Gordita"/>
                <a:hlinkClick r:id="rId3" tooltip="mailto:umer.saeed@beds.ac.uk"/>
              </a:rPr>
              <a:t>umer.saeed@beds.ac.uk</a:t>
            </a:r>
          </a:p>
          <a:p>
            <a:pPr algn="l">
              <a:lnSpc>
                <a:spcPts val="2040"/>
              </a:lnSpc>
            </a:pPr>
          </a:p>
          <a:p>
            <a:pPr algn="l">
              <a:lnSpc>
                <a:spcPts val="2040"/>
              </a:lnSpc>
            </a:pPr>
          </a:p>
          <a:p>
            <a:pPr algn="l">
              <a:lnSpc>
                <a:spcPts val="2040"/>
              </a:lnSpc>
            </a:pPr>
          </a:p>
          <a:p>
            <a:pPr algn="l">
              <a:lnSpc>
                <a:spcPts val="2040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4362401" y="6263588"/>
            <a:ext cx="3590228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CIS006-2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362401" y="5850939"/>
            <a:ext cx="3590228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Gordita Bold"/>
                <a:ea typeface="Gordita Bold"/>
                <a:cs typeface="Gordita Bold"/>
                <a:sym typeface="Gordita Bold"/>
              </a:rPr>
              <a:t>CLASS CODE: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1490993"/>
            <a:ext cx="16230600" cy="2808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25"/>
              </a:lnSpc>
              <a:spcBef>
                <a:spcPct val="0"/>
              </a:spcBef>
            </a:pPr>
            <a:r>
              <a:rPr lang="en-US" b="true" sz="8044" spc="-217" strike="noStrike" u="none">
                <a:solidFill>
                  <a:srgbClr val="000000"/>
                </a:solidFill>
                <a:latin typeface="Gordita Bold"/>
                <a:ea typeface="Gordita Bold"/>
                <a:cs typeface="Gordita Bold"/>
                <a:sym typeface="Gordita Bold"/>
              </a:rPr>
              <a:t>Case studies and demonstrations</a:t>
            </a:r>
          </a:p>
          <a:p>
            <a:pPr algn="l" marL="0" indent="0" lvl="0">
              <a:lnSpc>
                <a:spcPts val="576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240375" y="0"/>
            <a:ext cx="47625" cy="10287000"/>
            <a:chOff x="0" y="0"/>
            <a:chExt cx="1254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43" cy="2709333"/>
            </a:xfrm>
            <a:custGeom>
              <a:avLst/>
              <a:gdLst/>
              <a:ahLst/>
              <a:cxnLst/>
              <a:rect r="r" b="b" t="t" l="l"/>
              <a:pathLst>
                <a:path h="2709333" w="12543">
                  <a:moveTo>
                    <a:pt x="0" y="0"/>
                  </a:moveTo>
                  <a:lnTo>
                    <a:pt x="12543" y="0"/>
                  </a:lnTo>
                  <a:lnTo>
                    <a:pt x="1254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DFDF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2543" cy="27283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07535" y="9515475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000000"/>
                </a:solidFill>
                <a:latin typeface="Gordita Bold"/>
                <a:ea typeface="Gordita Bold"/>
                <a:cs typeface="Gordita Bold"/>
                <a:sym typeface="Gordita Bold"/>
              </a:rPr>
              <a:t>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80452" y="1427409"/>
            <a:ext cx="11384675" cy="7540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5"/>
              </a:lnSpc>
            </a:pPr>
            <a:r>
              <a:rPr lang="en-US" sz="2550" b="true">
                <a:solidFill>
                  <a:srgbClr val="000000"/>
                </a:solidFill>
                <a:latin typeface="Gordita Bold"/>
                <a:ea typeface="Gordita Bold"/>
                <a:cs typeface="Gordita Bold"/>
                <a:sym typeface="Gordita Bold"/>
              </a:rPr>
              <a:t>AI in Robotics: Real-World Intelligent Robots</a:t>
            </a:r>
          </a:p>
          <a:p>
            <a:pPr algn="l">
              <a:lnSpc>
                <a:spcPts val="3315"/>
              </a:lnSpc>
            </a:pPr>
          </a:p>
          <a:p>
            <a:pPr algn="l">
              <a:lnSpc>
                <a:spcPts val="3315"/>
              </a:lnSpc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Robotics is one of the most visible applications of Artificial Intelligence.</a:t>
            </a:r>
          </a:p>
          <a:p>
            <a:pPr algn="l">
              <a:lnSpc>
                <a:spcPts val="3315"/>
              </a:lnSpc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 Modern robots combine:</a:t>
            </a:r>
          </a:p>
          <a:p>
            <a:pPr algn="l" marL="550675" indent="-275337" lvl="1">
              <a:lnSpc>
                <a:spcPts val="3315"/>
              </a:lnSpc>
              <a:buFont typeface="Arial"/>
              <a:buChar char="•"/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Sensors</a:t>
            </a:r>
          </a:p>
          <a:p>
            <a:pPr algn="l" marL="550675" indent="-275337" lvl="1">
              <a:lnSpc>
                <a:spcPts val="3315"/>
              </a:lnSpc>
              <a:buFont typeface="Arial"/>
              <a:buChar char="•"/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Machine learning</a:t>
            </a:r>
          </a:p>
          <a:p>
            <a:pPr algn="l" marL="550675" indent="-275337" lvl="1">
              <a:lnSpc>
                <a:spcPts val="3315"/>
              </a:lnSpc>
              <a:buFont typeface="Arial"/>
              <a:buChar char="•"/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Computer vision</a:t>
            </a:r>
          </a:p>
          <a:p>
            <a:pPr algn="l" marL="550675" indent="-275337" lvl="1">
              <a:lnSpc>
                <a:spcPts val="3315"/>
              </a:lnSpc>
              <a:buFont typeface="Arial"/>
              <a:buChar char="•"/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Autonomous navigation</a:t>
            </a:r>
          </a:p>
          <a:p>
            <a:pPr algn="l" marL="550675" indent="-275337" lvl="1">
              <a:lnSpc>
                <a:spcPts val="3315"/>
              </a:lnSpc>
              <a:buFont typeface="Arial"/>
              <a:buChar char="•"/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Human–robot interaction</a:t>
            </a:r>
          </a:p>
          <a:p>
            <a:pPr algn="l">
              <a:lnSpc>
                <a:spcPts val="3315"/>
              </a:lnSpc>
            </a:pPr>
          </a:p>
          <a:p>
            <a:pPr algn="l">
              <a:lnSpc>
                <a:spcPts val="3315"/>
              </a:lnSpc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In this session, we demonstrate three robots:</a:t>
            </a:r>
          </a:p>
          <a:p>
            <a:pPr algn="l" marL="550675" indent="-275337" lvl="1">
              <a:lnSpc>
                <a:spcPts val="3315"/>
              </a:lnSpc>
              <a:buAutoNum type="arabicPeriod" startAt="1"/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AgileX LIMO mobile robot</a:t>
            </a:r>
          </a:p>
          <a:p>
            <a:pPr algn="l" marL="550675" indent="-275337" lvl="1">
              <a:lnSpc>
                <a:spcPts val="3315"/>
              </a:lnSpc>
              <a:buAutoNum type="arabicPeriod" startAt="1"/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NAO humanoid robot</a:t>
            </a:r>
          </a:p>
          <a:p>
            <a:pPr algn="l" marL="550675" indent="-275337" lvl="1">
              <a:lnSpc>
                <a:spcPts val="3315"/>
              </a:lnSpc>
              <a:buAutoNum type="arabicPeriod" startAt="1"/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Unitree Go2 robotic dog</a:t>
            </a:r>
          </a:p>
          <a:p>
            <a:pPr algn="l" marL="550675" indent="-275337" lvl="1">
              <a:lnSpc>
                <a:spcPts val="3315"/>
              </a:lnSpc>
              <a:buAutoNum type="arabicPeriod" startAt="1"/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Unitree G1 humanoid robot</a:t>
            </a:r>
          </a:p>
          <a:p>
            <a:pPr algn="l">
              <a:lnSpc>
                <a:spcPts val="3315"/>
              </a:lnSpc>
            </a:pPr>
          </a:p>
          <a:p>
            <a:pPr algn="l">
              <a:lnSpc>
                <a:spcPts val="3315"/>
              </a:lnSpc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Each robot demonstrates different AI capabilities.</a:t>
            </a:r>
          </a:p>
          <a:p>
            <a:pPr algn="l">
              <a:lnSpc>
                <a:spcPts val="331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240375" y="0"/>
            <a:ext cx="47625" cy="10287000"/>
            <a:chOff x="0" y="0"/>
            <a:chExt cx="1254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43" cy="2709333"/>
            </a:xfrm>
            <a:custGeom>
              <a:avLst/>
              <a:gdLst/>
              <a:ahLst/>
              <a:cxnLst/>
              <a:rect r="r" b="b" t="t" l="l"/>
              <a:pathLst>
                <a:path h="2709333" w="12543">
                  <a:moveTo>
                    <a:pt x="0" y="0"/>
                  </a:moveTo>
                  <a:lnTo>
                    <a:pt x="12543" y="0"/>
                  </a:lnTo>
                  <a:lnTo>
                    <a:pt x="1254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DFDF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2543" cy="27283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07535" y="9515475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000000"/>
                </a:solidFill>
                <a:latin typeface="Gordita Bold"/>
                <a:ea typeface="Gordita Bold"/>
                <a:cs typeface="Gordita Bold"/>
                <a:sym typeface="Gordita Bold"/>
              </a:rPr>
              <a:t>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80452" y="1427409"/>
            <a:ext cx="10398215" cy="7960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5"/>
              </a:lnSpc>
            </a:pPr>
            <a:r>
              <a:rPr lang="en-US" sz="2550" b="true">
                <a:solidFill>
                  <a:srgbClr val="000000"/>
                </a:solidFill>
                <a:latin typeface="Gordita Bold"/>
                <a:ea typeface="Gordita Bold"/>
                <a:cs typeface="Gordita Bold"/>
                <a:sym typeface="Gordita Bold"/>
              </a:rPr>
              <a:t>Why Robots Are Important in AI</a:t>
            </a:r>
          </a:p>
          <a:p>
            <a:pPr algn="l">
              <a:lnSpc>
                <a:spcPts val="3315"/>
              </a:lnSpc>
            </a:pPr>
          </a:p>
          <a:p>
            <a:pPr algn="l">
              <a:lnSpc>
                <a:spcPts val="3315"/>
              </a:lnSpc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R</a:t>
            </a: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obots are physical systems that</a:t>
            </a:r>
            <a:r>
              <a:rPr lang="en-US" sz="2550" b="true">
                <a:solidFill>
                  <a:srgbClr val="000000"/>
                </a:solidFill>
                <a:latin typeface="Gordita Bold"/>
                <a:ea typeface="Gordita Bold"/>
                <a:cs typeface="Gordita Bold"/>
                <a:sym typeface="Gordita Bold"/>
              </a:rPr>
              <a:t> sense, think, and act.</a:t>
            </a:r>
          </a:p>
          <a:p>
            <a:pPr algn="l">
              <a:lnSpc>
                <a:spcPts val="3315"/>
              </a:lnSpc>
            </a:pPr>
          </a:p>
          <a:p>
            <a:pPr algn="l">
              <a:lnSpc>
                <a:spcPts val="3315"/>
              </a:lnSpc>
            </a:pPr>
            <a:r>
              <a:rPr lang="en-US" sz="2550" b="true">
                <a:solidFill>
                  <a:srgbClr val="000000"/>
                </a:solidFill>
                <a:latin typeface="Gordita Bold"/>
                <a:ea typeface="Gordita Bold"/>
                <a:cs typeface="Gordita Bold"/>
                <a:sym typeface="Gordita Bold"/>
              </a:rPr>
              <a:t>Core AI technologies inside robots</a:t>
            </a:r>
          </a:p>
          <a:p>
            <a:pPr algn="l" marL="550675" indent="-275337" lvl="1">
              <a:lnSpc>
                <a:spcPts val="3315"/>
              </a:lnSpc>
              <a:buFont typeface="Arial"/>
              <a:buChar char="•"/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Computer vision</a:t>
            </a:r>
          </a:p>
          <a:p>
            <a:pPr algn="l" marL="550675" indent="-275337" lvl="1">
              <a:lnSpc>
                <a:spcPts val="3315"/>
              </a:lnSpc>
              <a:buFont typeface="Arial"/>
              <a:buChar char="•"/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Path planning</a:t>
            </a:r>
          </a:p>
          <a:p>
            <a:pPr algn="l" marL="550675" indent="-275337" lvl="1">
              <a:lnSpc>
                <a:spcPts val="3315"/>
              </a:lnSpc>
              <a:buFont typeface="Arial"/>
              <a:buChar char="•"/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SLAM (Simultaneous Localization and Mapping)</a:t>
            </a:r>
          </a:p>
          <a:p>
            <a:pPr algn="l" marL="550675" indent="-275337" lvl="1">
              <a:lnSpc>
                <a:spcPts val="3315"/>
              </a:lnSpc>
              <a:buFont typeface="Arial"/>
              <a:buChar char="•"/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Reinforcement learning</a:t>
            </a:r>
          </a:p>
          <a:p>
            <a:pPr algn="l" marL="550675" indent="-275337" lvl="1">
              <a:lnSpc>
                <a:spcPts val="3315"/>
              </a:lnSpc>
              <a:buFont typeface="Arial"/>
              <a:buChar char="•"/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Speech recognition</a:t>
            </a:r>
          </a:p>
          <a:p>
            <a:pPr algn="l" marL="550675" indent="-275337" lvl="1">
              <a:lnSpc>
                <a:spcPts val="3315"/>
              </a:lnSpc>
              <a:buFont typeface="Arial"/>
              <a:buChar char="•"/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Human-robot interaction</a:t>
            </a:r>
          </a:p>
          <a:p>
            <a:pPr algn="l">
              <a:lnSpc>
                <a:spcPts val="3315"/>
              </a:lnSpc>
            </a:pPr>
          </a:p>
          <a:p>
            <a:pPr algn="l">
              <a:lnSpc>
                <a:spcPts val="3315"/>
              </a:lnSpc>
            </a:pPr>
            <a:r>
              <a:rPr lang="en-US" sz="2550" b="true">
                <a:solidFill>
                  <a:srgbClr val="000000"/>
                </a:solidFill>
                <a:latin typeface="Gordita Bold"/>
                <a:ea typeface="Gordita Bold"/>
                <a:cs typeface="Gordita Bold"/>
                <a:sym typeface="Gordita Bold"/>
              </a:rPr>
              <a:t>Robotics pipeline</a:t>
            </a:r>
          </a:p>
          <a:p>
            <a:pPr algn="l">
              <a:lnSpc>
                <a:spcPts val="3315"/>
              </a:lnSpc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Sensor → Perception → Decision → Action</a:t>
            </a:r>
          </a:p>
          <a:p>
            <a:pPr algn="l">
              <a:lnSpc>
                <a:spcPts val="3315"/>
              </a:lnSpc>
            </a:pPr>
          </a:p>
          <a:p>
            <a:pPr algn="l">
              <a:lnSpc>
                <a:spcPts val="3315"/>
              </a:lnSpc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Example:</a:t>
            </a:r>
          </a:p>
          <a:p>
            <a:pPr algn="l">
              <a:lnSpc>
                <a:spcPts val="3315"/>
              </a:lnSpc>
            </a:pPr>
          </a:p>
          <a:p>
            <a:pPr algn="l">
              <a:lnSpc>
                <a:spcPts val="3315"/>
              </a:lnSpc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Camera → Object detection → Decide movement → Motor control</a:t>
            </a:r>
          </a:p>
          <a:p>
            <a:pPr algn="l">
              <a:lnSpc>
                <a:spcPts val="331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240375" y="0"/>
            <a:ext cx="47625" cy="10287000"/>
            <a:chOff x="0" y="0"/>
            <a:chExt cx="1254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43" cy="2709333"/>
            </a:xfrm>
            <a:custGeom>
              <a:avLst/>
              <a:gdLst/>
              <a:ahLst/>
              <a:cxnLst/>
              <a:rect r="r" b="b" t="t" l="l"/>
              <a:pathLst>
                <a:path h="2709333" w="12543">
                  <a:moveTo>
                    <a:pt x="0" y="0"/>
                  </a:moveTo>
                  <a:lnTo>
                    <a:pt x="12543" y="0"/>
                  </a:lnTo>
                  <a:lnTo>
                    <a:pt x="1254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DFDF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2543" cy="27283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673023" y="-228994"/>
            <a:ext cx="7983512" cy="7983512"/>
          </a:xfrm>
          <a:custGeom>
            <a:avLst/>
            <a:gdLst/>
            <a:ahLst/>
            <a:cxnLst/>
            <a:rect r="r" b="b" t="t" l="l"/>
            <a:pathLst>
              <a:path h="7983512" w="7983512">
                <a:moveTo>
                  <a:pt x="0" y="0"/>
                </a:moveTo>
                <a:lnTo>
                  <a:pt x="7983511" y="0"/>
                </a:lnTo>
                <a:lnTo>
                  <a:pt x="7983511" y="7983512"/>
                </a:lnTo>
                <a:lnTo>
                  <a:pt x="0" y="79835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80452" y="1427409"/>
            <a:ext cx="9110310" cy="8379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5"/>
              </a:lnSpc>
            </a:pPr>
            <a:r>
              <a:rPr lang="en-US" sz="2550" b="true">
                <a:solidFill>
                  <a:srgbClr val="000000"/>
                </a:solidFill>
                <a:latin typeface="Gordita Bold"/>
                <a:ea typeface="Gordita Bold"/>
                <a:cs typeface="Gordita Bold"/>
                <a:sym typeface="Gordita Bold"/>
              </a:rPr>
              <a:t>Types of R</a:t>
            </a:r>
            <a:r>
              <a:rPr lang="en-US" sz="2550" b="true">
                <a:solidFill>
                  <a:srgbClr val="000000"/>
                </a:solidFill>
                <a:latin typeface="Gordita Bold"/>
                <a:ea typeface="Gordita Bold"/>
                <a:cs typeface="Gordita Bold"/>
                <a:sym typeface="Gordita Bold"/>
              </a:rPr>
              <a:t>obots</a:t>
            </a:r>
          </a:p>
          <a:p>
            <a:pPr algn="l">
              <a:lnSpc>
                <a:spcPts val="3315"/>
              </a:lnSpc>
            </a:pPr>
          </a:p>
          <a:p>
            <a:pPr algn="l">
              <a:lnSpc>
                <a:spcPts val="3315"/>
              </a:lnSpc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Robots used in AI research can have different structures.</a:t>
            </a:r>
          </a:p>
          <a:p>
            <a:pPr algn="l">
              <a:lnSpc>
                <a:spcPts val="3315"/>
              </a:lnSpc>
            </a:pPr>
            <a:r>
              <a:rPr lang="en-US" sz="2550" b="true">
                <a:solidFill>
                  <a:srgbClr val="000000"/>
                </a:solidFill>
                <a:latin typeface="Gordita Bold"/>
                <a:ea typeface="Gordita Bold"/>
                <a:cs typeface="Gordita Bold"/>
                <a:sym typeface="Gordita Bold"/>
              </a:rPr>
              <a:t>Common robot types</a:t>
            </a:r>
          </a:p>
          <a:p>
            <a:pPr algn="l">
              <a:lnSpc>
                <a:spcPts val="3315"/>
              </a:lnSpc>
            </a:pPr>
          </a:p>
          <a:p>
            <a:pPr algn="l" marL="550675" indent="-275337" lvl="1">
              <a:lnSpc>
                <a:spcPts val="3315"/>
              </a:lnSpc>
              <a:buAutoNum type="arabicPeriod" startAt="1"/>
            </a:pPr>
            <a:r>
              <a:rPr lang="en-US" b="true" sz="2550">
                <a:solidFill>
                  <a:srgbClr val="000000"/>
                </a:solidFill>
                <a:latin typeface="Gordita Bold"/>
                <a:ea typeface="Gordita Bold"/>
                <a:cs typeface="Gordita Bold"/>
                <a:sym typeface="Gordita Bold"/>
              </a:rPr>
              <a:t>Mobile robots</a:t>
            </a:r>
          </a:p>
          <a:p>
            <a:pPr algn="l" marL="1101349" indent="-367116" lvl="2">
              <a:lnSpc>
                <a:spcPts val="3315"/>
              </a:lnSpc>
              <a:buFont typeface="Arial"/>
              <a:buChar char="⚬"/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autonomous navigation</a:t>
            </a:r>
          </a:p>
          <a:p>
            <a:pPr algn="l" marL="1101349" indent="-367116" lvl="2">
              <a:lnSpc>
                <a:spcPts val="3315"/>
              </a:lnSpc>
              <a:buFont typeface="Arial"/>
              <a:buChar char="⚬"/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mapping</a:t>
            </a:r>
          </a:p>
          <a:p>
            <a:pPr algn="l" marL="550675" indent="-275337" lvl="1">
              <a:lnSpc>
                <a:spcPts val="3315"/>
              </a:lnSpc>
              <a:buAutoNum type="arabicPeriod" startAt="1"/>
            </a:pPr>
            <a:r>
              <a:rPr lang="en-US" b="true" sz="2550">
                <a:solidFill>
                  <a:srgbClr val="000000"/>
                </a:solidFill>
                <a:latin typeface="Gordita Bold"/>
                <a:ea typeface="Gordita Bold"/>
                <a:cs typeface="Gordita Bold"/>
                <a:sym typeface="Gordita Bold"/>
              </a:rPr>
              <a:t>Humanoid robots</a:t>
            </a:r>
          </a:p>
          <a:p>
            <a:pPr algn="l" marL="1101349" indent="-367116" lvl="2">
              <a:lnSpc>
                <a:spcPts val="3315"/>
              </a:lnSpc>
              <a:buFont typeface="Arial"/>
              <a:buChar char="⚬"/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human interaction</a:t>
            </a:r>
          </a:p>
          <a:p>
            <a:pPr algn="l" marL="1101349" indent="-367116" lvl="2">
              <a:lnSpc>
                <a:spcPts val="3315"/>
              </a:lnSpc>
              <a:buFont typeface="Arial"/>
              <a:buChar char="⚬"/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speech and gestures</a:t>
            </a:r>
          </a:p>
          <a:p>
            <a:pPr algn="l" marL="550675" indent="-275337" lvl="1">
              <a:lnSpc>
                <a:spcPts val="3315"/>
              </a:lnSpc>
              <a:buAutoNum type="arabicPeriod" startAt="1"/>
            </a:pPr>
            <a:r>
              <a:rPr lang="en-US" b="true" sz="2550">
                <a:solidFill>
                  <a:srgbClr val="000000"/>
                </a:solidFill>
                <a:latin typeface="Gordita Bold"/>
                <a:ea typeface="Gordita Bold"/>
                <a:cs typeface="Gordita Bold"/>
                <a:sym typeface="Gordita Bold"/>
              </a:rPr>
              <a:t>Quadruped robots</a:t>
            </a:r>
          </a:p>
          <a:p>
            <a:pPr algn="l" marL="1101349" indent="-367116" lvl="2">
              <a:lnSpc>
                <a:spcPts val="3315"/>
              </a:lnSpc>
              <a:buFont typeface="Arial"/>
              <a:buChar char="⚬"/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terrain navigation</a:t>
            </a:r>
          </a:p>
          <a:p>
            <a:pPr algn="l" marL="1101349" indent="-367116" lvl="2">
              <a:lnSpc>
                <a:spcPts val="3315"/>
              </a:lnSpc>
              <a:buFont typeface="Arial"/>
              <a:buChar char="⚬"/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inspection tasks</a:t>
            </a:r>
          </a:p>
          <a:p>
            <a:pPr algn="l">
              <a:lnSpc>
                <a:spcPts val="3315"/>
              </a:lnSpc>
            </a:pPr>
            <a:r>
              <a:rPr lang="en-US" sz="2550" b="true">
                <a:solidFill>
                  <a:srgbClr val="000000"/>
                </a:solidFill>
                <a:latin typeface="Gordita Bold"/>
                <a:ea typeface="Gordita Bold"/>
                <a:cs typeface="Gordita Bold"/>
                <a:sym typeface="Gordita Bold"/>
              </a:rPr>
              <a:t>4. Advanced humanoid robots</a:t>
            </a:r>
          </a:p>
          <a:p>
            <a:pPr algn="l" marL="550675" indent="-275337" lvl="1">
              <a:lnSpc>
                <a:spcPts val="3315"/>
              </a:lnSpc>
              <a:buFont typeface="Arial"/>
              <a:buChar char="•"/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more complex humanoids with many joints</a:t>
            </a:r>
          </a:p>
          <a:p>
            <a:pPr algn="l" marL="550675" indent="-275337" lvl="1">
              <a:lnSpc>
                <a:spcPts val="3315"/>
              </a:lnSpc>
              <a:buFont typeface="Arial"/>
              <a:buChar char="•"/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capable of dynamic movement and manipulation</a:t>
            </a:r>
          </a:p>
          <a:p>
            <a:pPr algn="l">
              <a:lnSpc>
                <a:spcPts val="3315"/>
              </a:lnSpc>
            </a:pPr>
          </a:p>
          <a:p>
            <a:pPr algn="l">
              <a:lnSpc>
                <a:spcPts val="3315"/>
              </a:lnSpc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The robots we demonstrate today represent all three.</a:t>
            </a:r>
          </a:p>
          <a:p>
            <a:pPr algn="l">
              <a:lnSpc>
                <a:spcPts val="3315"/>
              </a:lnSpc>
              <a:spcBef>
                <a:spcPct val="0"/>
              </a:spcBef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724307" y="260393"/>
            <a:ext cx="3864455" cy="4741663"/>
          </a:xfrm>
          <a:custGeom>
            <a:avLst/>
            <a:gdLst/>
            <a:ahLst/>
            <a:cxnLst/>
            <a:rect r="r" b="b" t="t" l="l"/>
            <a:pathLst>
              <a:path h="4741663" w="3864455">
                <a:moveTo>
                  <a:pt x="0" y="0"/>
                </a:moveTo>
                <a:lnTo>
                  <a:pt x="3864455" y="0"/>
                </a:lnTo>
                <a:lnTo>
                  <a:pt x="3864455" y="4741663"/>
                </a:lnTo>
                <a:lnTo>
                  <a:pt x="0" y="47416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781951" y="6300696"/>
            <a:ext cx="5144740" cy="5144740"/>
          </a:xfrm>
          <a:custGeom>
            <a:avLst/>
            <a:gdLst/>
            <a:ahLst/>
            <a:cxnLst/>
            <a:rect r="r" b="b" t="t" l="l"/>
            <a:pathLst>
              <a:path h="5144740" w="5144740">
                <a:moveTo>
                  <a:pt x="0" y="0"/>
                </a:moveTo>
                <a:lnTo>
                  <a:pt x="5144740" y="0"/>
                </a:lnTo>
                <a:lnTo>
                  <a:pt x="5144740" y="5144740"/>
                </a:lnTo>
                <a:lnTo>
                  <a:pt x="0" y="51447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815478" y="5002056"/>
            <a:ext cx="5082011" cy="4659813"/>
          </a:xfrm>
          <a:custGeom>
            <a:avLst/>
            <a:gdLst/>
            <a:ahLst/>
            <a:cxnLst/>
            <a:rect r="r" b="b" t="t" l="l"/>
            <a:pathLst>
              <a:path h="4659813" w="5082011">
                <a:moveTo>
                  <a:pt x="0" y="0"/>
                </a:moveTo>
                <a:lnTo>
                  <a:pt x="5082010" y="0"/>
                </a:lnTo>
                <a:lnTo>
                  <a:pt x="5082010" y="4659814"/>
                </a:lnTo>
                <a:lnTo>
                  <a:pt x="0" y="46598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07535" y="9515475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000000"/>
                </a:solidFill>
                <a:latin typeface="Gordita Bold"/>
                <a:ea typeface="Gordita Bold"/>
                <a:cs typeface="Gordita Bold"/>
                <a:sym typeface="Gordita Bold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240375" y="0"/>
            <a:ext cx="47625" cy="10287000"/>
            <a:chOff x="0" y="0"/>
            <a:chExt cx="1254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43" cy="2709333"/>
            </a:xfrm>
            <a:custGeom>
              <a:avLst/>
              <a:gdLst/>
              <a:ahLst/>
              <a:cxnLst/>
              <a:rect r="r" b="b" t="t" l="l"/>
              <a:pathLst>
                <a:path h="2709333" w="12543">
                  <a:moveTo>
                    <a:pt x="0" y="0"/>
                  </a:moveTo>
                  <a:lnTo>
                    <a:pt x="12543" y="0"/>
                  </a:lnTo>
                  <a:lnTo>
                    <a:pt x="1254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DFDF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2543" cy="27283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63384" y="687581"/>
            <a:ext cx="14011085" cy="9217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5"/>
              </a:lnSpc>
            </a:pPr>
            <a:r>
              <a:rPr lang="en-US" sz="2550" b="true">
                <a:solidFill>
                  <a:srgbClr val="000000"/>
                </a:solidFill>
                <a:latin typeface="Gordita Bold"/>
                <a:ea typeface="Gordita Bold"/>
                <a:cs typeface="Gordita Bold"/>
                <a:sym typeface="Gordita Bold"/>
              </a:rPr>
              <a:t>AgileX LIMO R</a:t>
            </a:r>
            <a:r>
              <a:rPr lang="en-US" sz="2550" b="true">
                <a:solidFill>
                  <a:srgbClr val="000000"/>
                </a:solidFill>
                <a:latin typeface="Gordita Bold"/>
                <a:ea typeface="Gordita Bold"/>
                <a:cs typeface="Gordita Bold"/>
                <a:sym typeface="Gordita Bold"/>
              </a:rPr>
              <a:t>obot</a:t>
            </a:r>
          </a:p>
          <a:p>
            <a:pPr algn="l">
              <a:lnSpc>
                <a:spcPts val="3315"/>
              </a:lnSpc>
            </a:pPr>
          </a:p>
          <a:p>
            <a:pPr algn="l">
              <a:lnSpc>
                <a:spcPts val="3315"/>
              </a:lnSpc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What is LIMO?</a:t>
            </a:r>
          </a:p>
          <a:p>
            <a:pPr algn="l">
              <a:lnSpc>
                <a:spcPts val="3315"/>
              </a:lnSpc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LIMO is a small research mobile robot platform designed f</a:t>
            </a: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o</a:t>
            </a: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r AI a</a:t>
            </a: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n</a:t>
            </a: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d</a:t>
            </a: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 robot</a:t>
            </a: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ics</a:t>
            </a: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 </a:t>
            </a: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educa</a:t>
            </a: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t</a:t>
            </a: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ion.</a:t>
            </a:r>
          </a:p>
          <a:p>
            <a:pPr algn="l">
              <a:lnSpc>
                <a:spcPts val="3315"/>
              </a:lnSpc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It is widel</a:t>
            </a: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y</a:t>
            </a: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 used in univ</a:t>
            </a: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e</a:t>
            </a: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r</a:t>
            </a: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s</a:t>
            </a: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it</a:t>
            </a: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ie</a:t>
            </a: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s</a:t>
            </a: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 </a:t>
            </a: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f</a:t>
            </a: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o</a:t>
            </a: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r </a:t>
            </a: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t</a:t>
            </a: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eaching:</a:t>
            </a:r>
          </a:p>
          <a:p>
            <a:pPr algn="l" marL="550675" indent="-275337" lvl="1">
              <a:lnSpc>
                <a:spcPts val="3315"/>
              </a:lnSpc>
              <a:buFont typeface="Arial"/>
              <a:buChar char="•"/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autonomous navigation</a:t>
            </a:r>
          </a:p>
          <a:p>
            <a:pPr algn="l" marL="550675" indent="-275337" lvl="1">
              <a:lnSpc>
                <a:spcPts val="3315"/>
              </a:lnSpc>
              <a:buFont typeface="Arial"/>
              <a:buChar char="•"/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SLAM</a:t>
            </a:r>
          </a:p>
          <a:p>
            <a:pPr algn="l" marL="550675" indent="-275337" lvl="1">
              <a:lnSpc>
                <a:spcPts val="3315"/>
              </a:lnSpc>
              <a:buFont typeface="Arial"/>
              <a:buChar char="•"/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co</a:t>
            </a: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mputer vision</a:t>
            </a:r>
          </a:p>
          <a:p>
            <a:pPr algn="l" marL="550675" indent="-275337" lvl="1">
              <a:lnSpc>
                <a:spcPts val="3315"/>
              </a:lnSpc>
              <a:buFont typeface="Arial"/>
              <a:buChar char="•"/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ROS</a:t>
            </a: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 robot</a:t>
            </a: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ic</a:t>
            </a: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s</a:t>
            </a: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 programming</a:t>
            </a:r>
          </a:p>
          <a:p>
            <a:pPr algn="l">
              <a:lnSpc>
                <a:spcPts val="3315"/>
              </a:lnSpc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Key features</a:t>
            </a:r>
          </a:p>
          <a:p>
            <a:pPr algn="l" marL="550675" indent="-275337" lvl="1">
              <a:lnSpc>
                <a:spcPts val="3315"/>
              </a:lnSpc>
              <a:buFont typeface="Arial"/>
              <a:buChar char="•"/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Weight: about 4.2 kg </a:t>
            </a:r>
          </a:p>
          <a:p>
            <a:pPr algn="l" marL="550675" indent="-275337" lvl="1">
              <a:lnSpc>
                <a:spcPts val="3315"/>
              </a:lnSpc>
              <a:buFont typeface="Arial"/>
              <a:buChar char="•"/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Maximum </a:t>
            </a: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speed: about 1 m/s </a:t>
            </a:r>
          </a:p>
          <a:p>
            <a:pPr algn="l" marL="550675" indent="-275337" lvl="1">
              <a:lnSpc>
                <a:spcPts val="3315"/>
              </a:lnSpc>
              <a:buFont typeface="Arial"/>
              <a:buChar char="•"/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Runtime around 40 minutes </a:t>
            </a:r>
          </a:p>
          <a:p>
            <a:pPr algn="l" marL="550675" indent="-275337" lvl="1">
              <a:lnSpc>
                <a:spcPts val="3315"/>
              </a:lnSpc>
              <a:buFont typeface="Arial"/>
              <a:buChar char="•"/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Comp</a:t>
            </a: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a</a:t>
            </a: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tibl</a:t>
            </a: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e</a:t>
            </a: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 with ROS</a:t>
            </a: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 robot</a:t>
            </a: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ic</a:t>
            </a: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s</a:t>
            </a: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 framework</a:t>
            </a:r>
          </a:p>
          <a:p>
            <a:pPr algn="l">
              <a:lnSpc>
                <a:spcPts val="3315"/>
              </a:lnSpc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S</a:t>
            </a: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ensors</a:t>
            </a:r>
          </a:p>
          <a:p>
            <a:pPr algn="l">
              <a:lnSpc>
                <a:spcPts val="3315"/>
              </a:lnSpc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Typical configuration includes:</a:t>
            </a:r>
          </a:p>
          <a:p>
            <a:pPr algn="l" marL="550675" indent="-275337" lvl="1">
              <a:lnSpc>
                <a:spcPts val="3315"/>
              </a:lnSpc>
              <a:buFont typeface="Arial"/>
              <a:buChar char="•"/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LiDAR</a:t>
            </a:r>
          </a:p>
          <a:p>
            <a:pPr algn="l" marL="550675" indent="-275337" lvl="1">
              <a:lnSpc>
                <a:spcPts val="3315"/>
              </a:lnSpc>
              <a:buFont typeface="Arial"/>
              <a:buChar char="•"/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depth camera</a:t>
            </a:r>
          </a:p>
          <a:p>
            <a:pPr algn="l" marL="550675" indent="-275337" lvl="1">
              <a:lnSpc>
                <a:spcPts val="3315"/>
              </a:lnSpc>
              <a:buFont typeface="Arial"/>
              <a:buChar char="•"/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IMU</a:t>
            </a:r>
          </a:p>
          <a:p>
            <a:pPr algn="l" marL="550675" indent="-275337" lvl="1">
              <a:lnSpc>
                <a:spcPts val="3315"/>
              </a:lnSpc>
              <a:buFont typeface="Arial"/>
              <a:buChar char="•"/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wheel encoders</a:t>
            </a:r>
          </a:p>
          <a:p>
            <a:pPr algn="l">
              <a:lnSpc>
                <a:spcPts val="3315"/>
              </a:lnSpc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These allow the robot to map its environment and navigate autonomously.</a:t>
            </a:r>
          </a:p>
          <a:p>
            <a:pPr algn="l">
              <a:lnSpc>
                <a:spcPts val="3315"/>
              </a:lnSpc>
              <a:spcBef>
                <a:spcPct val="0"/>
              </a:spcBef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8918769" y="3549837"/>
            <a:ext cx="8058659" cy="3918523"/>
          </a:xfrm>
          <a:custGeom>
            <a:avLst/>
            <a:gdLst/>
            <a:ahLst/>
            <a:cxnLst/>
            <a:rect r="r" b="b" t="t" l="l"/>
            <a:pathLst>
              <a:path h="3918523" w="8058659">
                <a:moveTo>
                  <a:pt x="0" y="0"/>
                </a:moveTo>
                <a:lnTo>
                  <a:pt x="8058659" y="0"/>
                </a:lnTo>
                <a:lnTo>
                  <a:pt x="8058659" y="3918523"/>
                </a:lnTo>
                <a:lnTo>
                  <a:pt x="0" y="39185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07535" y="9515475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000000"/>
                </a:solidFill>
                <a:latin typeface="Gordita Bold"/>
                <a:ea typeface="Gordita Bold"/>
                <a:cs typeface="Gordita Bold"/>
                <a:sym typeface="Gordita Bold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240375" y="0"/>
            <a:ext cx="47625" cy="10287000"/>
            <a:chOff x="0" y="0"/>
            <a:chExt cx="1254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43" cy="2709333"/>
            </a:xfrm>
            <a:custGeom>
              <a:avLst/>
              <a:gdLst/>
              <a:ahLst/>
              <a:cxnLst/>
              <a:rect r="r" b="b" t="t" l="l"/>
              <a:pathLst>
                <a:path h="2709333" w="12543">
                  <a:moveTo>
                    <a:pt x="0" y="0"/>
                  </a:moveTo>
                  <a:lnTo>
                    <a:pt x="12543" y="0"/>
                  </a:lnTo>
                  <a:lnTo>
                    <a:pt x="1254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DFDF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2543" cy="27283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63384" y="687581"/>
            <a:ext cx="4842867" cy="5864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5"/>
              </a:lnSpc>
            </a:pPr>
            <a:r>
              <a:rPr lang="en-US" sz="2550" b="true">
                <a:solidFill>
                  <a:srgbClr val="000000"/>
                </a:solidFill>
                <a:latin typeface="Gordita Bold"/>
                <a:ea typeface="Gordita Bold"/>
                <a:cs typeface="Gordita Bold"/>
                <a:sym typeface="Gordita Bold"/>
              </a:rPr>
              <a:t>LIMO AI Capabilities</a:t>
            </a:r>
          </a:p>
          <a:p>
            <a:pPr algn="l">
              <a:lnSpc>
                <a:spcPts val="3315"/>
              </a:lnSpc>
            </a:pPr>
          </a:p>
          <a:p>
            <a:pPr algn="l">
              <a:lnSpc>
                <a:spcPts val="3315"/>
              </a:lnSpc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What AI can we run on LIMO?</a:t>
            </a:r>
          </a:p>
          <a:p>
            <a:pPr algn="l">
              <a:lnSpc>
                <a:spcPts val="3315"/>
              </a:lnSpc>
            </a:pPr>
          </a:p>
          <a:p>
            <a:pPr algn="l">
              <a:lnSpc>
                <a:spcPts val="3315"/>
              </a:lnSpc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Examples:</a:t>
            </a:r>
          </a:p>
          <a:p>
            <a:pPr algn="l">
              <a:lnSpc>
                <a:spcPts val="3315"/>
              </a:lnSpc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1. Autonomous navigation</a:t>
            </a:r>
          </a:p>
          <a:p>
            <a:pPr algn="l" marL="550675" indent="-275337" lvl="1">
              <a:lnSpc>
                <a:spcPts val="3315"/>
              </a:lnSpc>
              <a:buFont typeface="Arial"/>
              <a:buChar char="•"/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SLAM</a:t>
            </a:r>
          </a:p>
          <a:p>
            <a:pPr algn="l" marL="550675" indent="-275337" lvl="1">
              <a:lnSpc>
                <a:spcPts val="3315"/>
              </a:lnSpc>
              <a:buFont typeface="Arial"/>
              <a:buChar char="•"/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path planning</a:t>
            </a:r>
          </a:p>
          <a:p>
            <a:pPr algn="l">
              <a:lnSpc>
                <a:spcPts val="3315"/>
              </a:lnSpc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2. Object detection</a:t>
            </a:r>
          </a:p>
          <a:p>
            <a:pPr algn="l" marL="550675" indent="-275337" lvl="1">
              <a:lnSpc>
                <a:spcPts val="3315"/>
              </a:lnSpc>
              <a:buFont typeface="Arial"/>
              <a:buChar char="•"/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camera + YOLO</a:t>
            </a:r>
          </a:p>
          <a:p>
            <a:pPr algn="l">
              <a:lnSpc>
                <a:spcPts val="3315"/>
              </a:lnSpc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3. Human following</a:t>
            </a:r>
          </a:p>
          <a:p>
            <a:pPr algn="l">
              <a:lnSpc>
                <a:spcPts val="3315"/>
              </a:lnSpc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4. Mapping the environment</a:t>
            </a:r>
          </a:p>
          <a:p>
            <a:pPr algn="l">
              <a:lnSpc>
                <a:spcPts val="3315"/>
              </a:lnSpc>
            </a:pPr>
          </a:p>
          <a:p>
            <a:pPr algn="l">
              <a:lnSpc>
                <a:spcPts val="3315"/>
              </a:lnSpc>
              <a:spcBef>
                <a:spcPct val="0"/>
              </a:spcBef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8918769" y="3549837"/>
            <a:ext cx="8058659" cy="3918523"/>
          </a:xfrm>
          <a:custGeom>
            <a:avLst/>
            <a:gdLst/>
            <a:ahLst/>
            <a:cxnLst/>
            <a:rect r="r" b="b" t="t" l="l"/>
            <a:pathLst>
              <a:path h="3918523" w="8058659">
                <a:moveTo>
                  <a:pt x="0" y="0"/>
                </a:moveTo>
                <a:lnTo>
                  <a:pt x="8058659" y="0"/>
                </a:lnTo>
                <a:lnTo>
                  <a:pt x="8058659" y="3918523"/>
                </a:lnTo>
                <a:lnTo>
                  <a:pt x="0" y="39185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07535" y="9515475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000000"/>
                </a:solidFill>
                <a:latin typeface="Gordita Bold"/>
                <a:ea typeface="Gordita Bold"/>
                <a:cs typeface="Gordita Bold"/>
                <a:sym typeface="Gordita Bold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240375" y="0"/>
            <a:ext cx="47625" cy="10287000"/>
            <a:chOff x="0" y="0"/>
            <a:chExt cx="1254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43" cy="2709333"/>
            </a:xfrm>
            <a:custGeom>
              <a:avLst/>
              <a:gdLst/>
              <a:ahLst/>
              <a:cxnLst/>
              <a:rect r="r" b="b" t="t" l="l"/>
              <a:pathLst>
                <a:path h="2709333" w="12543">
                  <a:moveTo>
                    <a:pt x="0" y="0"/>
                  </a:moveTo>
                  <a:lnTo>
                    <a:pt x="12543" y="0"/>
                  </a:lnTo>
                  <a:lnTo>
                    <a:pt x="1254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DFDF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2543" cy="27283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63384" y="687581"/>
            <a:ext cx="14385456" cy="7540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5"/>
              </a:lnSpc>
            </a:pPr>
            <a:r>
              <a:rPr lang="en-US" sz="2550" b="true">
                <a:solidFill>
                  <a:srgbClr val="000000"/>
                </a:solidFill>
                <a:latin typeface="Gordita Bold"/>
                <a:ea typeface="Gordita Bold"/>
                <a:cs typeface="Gordita Bold"/>
                <a:sym typeface="Gordita Bold"/>
              </a:rPr>
              <a:t>NAO Humanoid Robot</a:t>
            </a:r>
          </a:p>
          <a:p>
            <a:pPr algn="l">
              <a:lnSpc>
                <a:spcPts val="3315"/>
              </a:lnSpc>
            </a:pPr>
          </a:p>
          <a:p>
            <a:pPr algn="l">
              <a:lnSpc>
                <a:spcPts val="3315"/>
              </a:lnSpc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What is NAO?</a:t>
            </a:r>
          </a:p>
          <a:p>
            <a:pPr algn="l">
              <a:lnSpc>
                <a:spcPts val="3315"/>
              </a:lnSpc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NAO is a humanoid robot designed for education, research, and human-robot interaction.</a:t>
            </a:r>
          </a:p>
          <a:p>
            <a:pPr algn="l">
              <a:lnSpc>
                <a:spcPts val="3315"/>
              </a:lnSpc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Common uses:</a:t>
            </a:r>
          </a:p>
          <a:p>
            <a:pPr algn="l" marL="550675" indent="-275337" lvl="1">
              <a:lnSpc>
                <a:spcPts val="3315"/>
              </a:lnSpc>
              <a:buFont typeface="Arial"/>
              <a:buChar char="•"/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te</a:t>
            </a: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aching programming</a:t>
            </a:r>
          </a:p>
          <a:p>
            <a:pPr algn="l" marL="550675" indent="-275337" lvl="1">
              <a:lnSpc>
                <a:spcPts val="3315"/>
              </a:lnSpc>
              <a:buFont typeface="Arial"/>
              <a:buChar char="•"/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social</a:t>
            </a: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 robotics</a:t>
            </a:r>
          </a:p>
          <a:p>
            <a:pPr algn="l" marL="550675" indent="-275337" lvl="1">
              <a:lnSpc>
                <a:spcPts val="3315"/>
              </a:lnSpc>
              <a:buFont typeface="Arial"/>
              <a:buChar char="•"/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autism therapy</a:t>
            </a:r>
          </a:p>
          <a:p>
            <a:pPr algn="l" marL="550675" indent="-275337" lvl="1">
              <a:lnSpc>
                <a:spcPts val="3315"/>
              </a:lnSpc>
              <a:buFont typeface="Arial"/>
              <a:buChar char="•"/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AI interaction research</a:t>
            </a:r>
          </a:p>
          <a:p>
            <a:pPr algn="l">
              <a:lnSpc>
                <a:spcPts val="3315"/>
              </a:lnSpc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Key characteristics</a:t>
            </a:r>
          </a:p>
          <a:p>
            <a:pPr algn="l" marL="550675" indent="-275337" lvl="1">
              <a:lnSpc>
                <a:spcPts val="3315"/>
              </a:lnSpc>
              <a:buFont typeface="Arial"/>
              <a:buChar char="•"/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humanoid design</a:t>
            </a:r>
          </a:p>
          <a:p>
            <a:pPr algn="l" marL="550675" indent="-275337" lvl="1">
              <a:lnSpc>
                <a:spcPts val="3315"/>
              </a:lnSpc>
              <a:buFont typeface="Arial"/>
              <a:buChar char="•"/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cameras for vision</a:t>
            </a:r>
          </a:p>
          <a:p>
            <a:pPr algn="l" marL="550675" indent="-275337" lvl="1">
              <a:lnSpc>
                <a:spcPts val="3315"/>
              </a:lnSpc>
              <a:buFont typeface="Arial"/>
              <a:buChar char="•"/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microphones for speech recognition</a:t>
            </a:r>
          </a:p>
          <a:p>
            <a:pPr algn="l" marL="550675" indent="-275337" lvl="1">
              <a:lnSpc>
                <a:spcPts val="3315"/>
              </a:lnSpc>
              <a:buFont typeface="Arial"/>
              <a:buChar char="•"/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speakers</a:t>
            </a: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 for speech output</a:t>
            </a:r>
          </a:p>
          <a:p>
            <a:pPr algn="l" marL="550675" indent="-275337" lvl="1">
              <a:lnSpc>
                <a:spcPts val="3315"/>
              </a:lnSpc>
              <a:buFont typeface="Arial"/>
              <a:buChar char="•"/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multiple joints for movement</a:t>
            </a:r>
          </a:p>
          <a:p>
            <a:pPr algn="l">
              <a:lnSpc>
                <a:spcPts val="3315"/>
              </a:lnSpc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This allows the robot to interact naturally with people</a:t>
            </a:r>
          </a:p>
          <a:p>
            <a:pPr algn="l">
              <a:lnSpc>
                <a:spcPts val="3315"/>
              </a:lnSpc>
            </a:pPr>
          </a:p>
          <a:p>
            <a:pPr algn="l">
              <a:lnSpc>
                <a:spcPts val="3315"/>
              </a:lnSpc>
              <a:spcBef>
                <a:spcPct val="0"/>
              </a:spcBef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275000" y="2648876"/>
            <a:ext cx="7805078" cy="7638124"/>
          </a:xfrm>
          <a:custGeom>
            <a:avLst/>
            <a:gdLst/>
            <a:ahLst/>
            <a:cxnLst/>
            <a:rect r="r" b="b" t="t" l="l"/>
            <a:pathLst>
              <a:path h="7638124" w="7805078">
                <a:moveTo>
                  <a:pt x="0" y="0"/>
                </a:moveTo>
                <a:lnTo>
                  <a:pt x="7805078" y="0"/>
                </a:lnTo>
                <a:lnTo>
                  <a:pt x="7805078" y="7638124"/>
                </a:lnTo>
                <a:lnTo>
                  <a:pt x="0" y="76381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07535" y="9515475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000000"/>
                </a:solidFill>
                <a:latin typeface="Gordita Bold"/>
                <a:ea typeface="Gordita Bold"/>
                <a:cs typeface="Gordita Bold"/>
                <a:sym typeface="Gordita Bold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240375" y="0"/>
            <a:ext cx="47625" cy="10287000"/>
            <a:chOff x="0" y="0"/>
            <a:chExt cx="1254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43" cy="2709333"/>
            </a:xfrm>
            <a:custGeom>
              <a:avLst/>
              <a:gdLst/>
              <a:ahLst/>
              <a:cxnLst/>
              <a:rect r="r" b="b" t="t" l="l"/>
              <a:pathLst>
                <a:path h="2709333" w="12543">
                  <a:moveTo>
                    <a:pt x="0" y="0"/>
                  </a:moveTo>
                  <a:lnTo>
                    <a:pt x="12543" y="0"/>
                  </a:lnTo>
                  <a:lnTo>
                    <a:pt x="1254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DFDF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2543" cy="27283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63384" y="687581"/>
            <a:ext cx="6767215" cy="8379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5"/>
              </a:lnSpc>
            </a:pPr>
            <a:r>
              <a:rPr lang="en-US" sz="2550" b="true">
                <a:solidFill>
                  <a:srgbClr val="000000"/>
                </a:solidFill>
                <a:latin typeface="Gordita Bold"/>
                <a:ea typeface="Gordita Bold"/>
                <a:cs typeface="Gordita Bold"/>
                <a:sym typeface="Gordita Bold"/>
              </a:rPr>
              <a:t>AI Capabilities of NAO</a:t>
            </a:r>
          </a:p>
          <a:p>
            <a:pPr algn="l">
              <a:lnSpc>
                <a:spcPts val="3315"/>
              </a:lnSpc>
            </a:pPr>
          </a:p>
          <a:p>
            <a:pPr algn="l">
              <a:lnSpc>
                <a:spcPts val="3315"/>
              </a:lnSpc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NAO focuses on human-robot interaction.</a:t>
            </a:r>
          </a:p>
          <a:p>
            <a:pPr algn="l">
              <a:lnSpc>
                <a:spcPts val="3315"/>
              </a:lnSpc>
            </a:pPr>
          </a:p>
          <a:p>
            <a:pPr algn="l">
              <a:lnSpc>
                <a:spcPts val="3315"/>
              </a:lnSpc>
            </a:pPr>
            <a:r>
              <a:rPr lang="en-US" sz="2550" b="true">
                <a:solidFill>
                  <a:srgbClr val="000000"/>
                </a:solidFill>
                <a:latin typeface="Gordita Bold"/>
                <a:ea typeface="Gordita Bold"/>
                <a:cs typeface="Gordita Bold"/>
                <a:sym typeface="Gordita Bold"/>
              </a:rPr>
              <a:t>AI applications</a:t>
            </a:r>
          </a:p>
          <a:p>
            <a:pPr algn="l">
              <a:lnSpc>
                <a:spcPts val="3315"/>
              </a:lnSpc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Speech recognition</a:t>
            </a:r>
          </a:p>
          <a:p>
            <a:pPr algn="l">
              <a:lnSpc>
                <a:spcPts val="3315"/>
              </a:lnSpc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 Natural language interaction</a:t>
            </a:r>
          </a:p>
          <a:p>
            <a:pPr algn="l">
              <a:lnSpc>
                <a:spcPts val="3315"/>
              </a:lnSpc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 Emotion recognition</a:t>
            </a:r>
          </a:p>
          <a:p>
            <a:pPr algn="l">
              <a:lnSpc>
                <a:spcPts val="3315"/>
              </a:lnSpc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 Gesture control</a:t>
            </a:r>
          </a:p>
          <a:p>
            <a:pPr algn="l">
              <a:lnSpc>
                <a:spcPts val="3315"/>
              </a:lnSpc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 Face recognition</a:t>
            </a:r>
          </a:p>
          <a:p>
            <a:pPr algn="l">
              <a:lnSpc>
                <a:spcPts val="3315"/>
              </a:lnSpc>
            </a:pPr>
          </a:p>
          <a:p>
            <a:pPr algn="l">
              <a:lnSpc>
                <a:spcPts val="3315"/>
              </a:lnSpc>
            </a:pPr>
            <a:r>
              <a:rPr lang="en-US" sz="2550" b="true">
                <a:solidFill>
                  <a:srgbClr val="000000"/>
                </a:solidFill>
                <a:latin typeface="Gordita Bold"/>
                <a:ea typeface="Gordita Bold"/>
                <a:cs typeface="Gordita Bold"/>
                <a:sym typeface="Gordita Bold"/>
              </a:rPr>
              <a:t>Example tasks:</a:t>
            </a:r>
          </a:p>
          <a:p>
            <a:pPr algn="l" marL="550675" indent="-275337" lvl="1">
              <a:lnSpc>
                <a:spcPts val="3315"/>
              </a:lnSpc>
              <a:buFont typeface="Arial"/>
              <a:buChar char="•"/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greeting students</a:t>
            </a:r>
          </a:p>
          <a:p>
            <a:pPr algn="l" marL="550675" indent="-275337" lvl="1">
              <a:lnSpc>
                <a:spcPts val="3315"/>
              </a:lnSpc>
              <a:buFont typeface="Arial"/>
              <a:buChar char="•"/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answering questions</a:t>
            </a:r>
          </a:p>
          <a:p>
            <a:pPr algn="l" marL="550675" indent="-275337" lvl="1">
              <a:lnSpc>
                <a:spcPts val="3315"/>
              </a:lnSpc>
              <a:buFont typeface="Arial"/>
              <a:buChar char="•"/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teaching programming</a:t>
            </a:r>
          </a:p>
          <a:p>
            <a:pPr algn="l" marL="550675" indent="-275337" lvl="1">
              <a:lnSpc>
                <a:spcPts val="3315"/>
              </a:lnSpc>
              <a:buFont typeface="Arial"/>
              <a:buChar char="•"/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interacting with children</a:t>
            </a:r>
          </a:p>
          <a:p>
            <a:pPr algn="l">
              <a:lnSpc>
                <a:spcPts val="3315"/>
              </a:lnSpc>
            </a:pPr>
          </a:p>
          <a:p>
            <a:pPr algn="l">
              <a:lnSpc>
                <a:spcPts val="3315"/>
              </a:lnSpc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This robot demonstrates how AI </a:t>
            </a:r>
          </a:p>
          <a:p>
            <a:pPr algn="l">
              <a:lnSpc>
                <a:spcPts val="3315"/>
              </a:lnSpc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can interact socially with humans.</a:t>
            </a:r>
          </a:p>
          <a:p>
            <a:pPr algn="l">
              <a:lnSpc>
                <a:spcPts val="3315"/>
              </a:lnSpc>
              <a:spcBef>
                <a:spcPct val="0"/>
              </a:spcBef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275000" y="2648876"/>
            <a:ext cx="7805078" cy="7638124"/>
          </a:xfrm>
          <a:custGeom>
            <a:avLst/>
            <a:gdLst/>
            <a:ahLst/>
            <a:cxnLst/>
            <a:rect r="r" b="b" t="t" l="l"/>
            <a:pathLst>
              <a:path h="7638124" w="7805078">
                <a:moveTo>
                  <a:pt x="0" y="0"/>
                </a:moveTo>
                <a:lnTo>
                  <a:pt x="7805078" y="0"/>
                </a:lnTo>
                <a:lnTo>
                  <a:pt x="7805078" y="7638124"/>
                </a:lnTo>
                <a:lnTo>
                  <a:pt x="0" y="76381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07535" y="9515475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000000"/>
                </a:solidFill>
                <a:latin typeface="Gordita Bold"/>
                <a:ea typeface="Gordita Bold"/>
                <a:cs typeface="Gordita Bold"/>
                <a:sym typeface="Gordita Bold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240375" y="0"/>
            <a:ext cx="47625" cy="10287000"/>
            <a:chOff x="0" y="0"/>
            <a:chExt cx="1254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43" cy="2709333"/>
            </a:xfrm>
            <a:custGeom>
              <a:avLst/>
              <a:gdLst/>
              <a:ahLst/>
              <a:cxnLst/>
              <a:rect r="r" b="b" t="t" l="l"/>
              <a:pathLst>
                <a:path h="2709333" w="12543">
                  <a:moveTo>
                    <a:pt x="0" y="0"/>
                  </a:moveTo>
                  <a:lnTo>
                    <a:pt x="12543" y="0"/>
                  </a:lnTo>
                  <a:lnTo>
                    <a:pt x="1254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DFDF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2543" cy="27283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63384" y="697106"/>
            <a:ext cx="16924616" cy="10389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sz="2450" b="true">
                <a:solidFill>
                  <a:srgbClr val="000000"/>
                </a:solidFill>
                <a:latin typeface="Gordita Bold"/>
                <a:ea typeface="Gordita Bold"/>
                <a:cs typeface="Gordita Bold"/>
                <a:sym typeface="Gordita Bold"/>
              </a:rPr>
              <a:t>What is Unitree G1?</a:t>
            </a:r>
          </a:p>
          <a:p>
            <a:pPr algn="l">
              <a:lnSpc>
                <a:spcPts val="3185"/>
              </a:lnSpc>
            </a:pPr>
            <a:r>
              <a:rPr lang="en-US" sz="24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The Unitree G1 is a next-generation humanoid robot designed for AI research, human-robot interaction, and advanced locomotion. Unlike educational humanoids such as NAO, the G1 is designed to perform complex dynamic movements and manipulation tasks.</a:t>
            </a:r>
          </a:p>
          <a:p>
            <a:pPr algn="l">
              <a:lnSpc>
                <a:spcPts val="3185"/>
              </a:lnSpc>
            </a:pPr>
          </a:p>
          <a:p>
            <a:pPr algn="l">
              <a:lnSpc>
                <a:spcPts val="3185"/>
              </a:lnSpc>
            </a:pPr>
            <a:r>
              <a:rPr lang="en-US" sz="2450" b="true">
                <a:solidFill>
                  <a:srgbClr val="000000"/>
                </a:solidFill>
                <a:latin typeface="Gordita Bold"/>
                <a:ea typeface="Gordita Bold"/>
                <a:cs typeface="Gordita Bold"/>
                <a:sym typeface="Gordita Bold"/>
              </a:rPr>
              <a:t>Typical uses include:</a:t>
            </a:r>
          </a:p>
          <a:p>
            <a:pPr algn="l" marL="529085" indent="-264543" lvl="1">
              <a:lnSpc>
                <a:spcPts val="3185"/>
              </a:lnSpc>
              <a:buFont typeface="Arial"/>
              <a:buChar char="•"/>
            </a:pPr>
            <a:r>
              <a:rPr lang="en-US" sz="24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robotics research</a:t>
            </a:r>
          </a:p>
          <a:p>
            <a:pPr algn="l" marL="529085" indent="-264543" lvl="1">
              <a:lnSpc>
                <a:spcPts val="3185"/>
              </a:lnSpc>
              <a:buFont typeface="Arial"/>
              <a:buChar char="•"/>
            </a:pPr>
            <a:r>
              <a:rPr lang="en-US" sz="24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reinforcement learning experiments</a:t>
            </a:r>
          </a:p>
          <a:p>
            <a:pPr algn="l" marL="529085" indent="-264543" lvl="1">
              <a:lnSpc>
                <a:spcPts val="3185"/>
              </a:lnSpc>
              <a:buFont typeface="Arial"/>
              <a:buChar char="•"/>
            </a:pPr>
            <a:r>
              <a:rPr lang="en-US" sz="24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humanoid locomotion studies</a:t>
            </a:r>
          </a:p>
          <a:p>
            <a:pPr algn="l" marL="529085" indent="-264543" lvl="1">
              <a:lnSpc>
                <a:spcPts val="3185"/>
              </a:lnSpc>
              <a:buFont typeface="Arial"/>
              <a:buChar char="•"/>
            </a:pPr>
            <a:r>
              <a:rPr lang="en-US" sz="24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manipulation tasks with robotic hands</a:t>
            </a:r>
          </a:p>
          <a:p>
            <a:pPr algn="l">
              <a:lnSpc>
                <a:spcPts val="3185"/>
              </a:lnSpc>
            </a:pPr>
            <a:r>
              <a:rPr lang="en-US" sz="2450" b="true">
                <a:solidFill>
                  <a:srgbClr val="000000"/>
                </a:solidFill>
                <a:latin typeface="Gordita Bold"/>
                <a:ea typeface="Gordita Bold"/>
                <a:cs typeface="Gordita Bold"/>
                <a:sym typeface="Gordita Bold"/>
              </a:rPr>
              <a:t>Technical Characteristics</a:t>
            </a:r>
          </a:p>
          <a:p>
            <a:pPr algn="l">
              <a:lnSpc>
                <a:spcPts val="3185"/>
              </a:lnSpc>
            </a:pPr>
            <a:r>
              <a:rPr lang="en-US" sz="24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Key specifications:</a:t>
            </a:r>
          </a:p>
          <a:p>
            <a:pPr algn="l" marL="529085" indent="-264543" lvl="1">
              <a:lnSpc>
                <a:spcPts val="3185"/>
              </a:lnSpc>
              <a:buFont typeface="Arial"/>
              <a:buChar char="•"/>
            </a:pPr>
            <a:r>
              <a:rPr lang="en-US" sz="24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Height: about 1.3 m</a:t>
            </a:r>
          </a:p>
          <a:p>
            <a:pPr algn="l" marL="529085" indent="-264543" lvl="1">
              <a:lnSpc>
                <a:spcPts val="3185"/>
              </a:lnSpc>
              <a:buFont typeface="Arial"/>
              <a:buChar char="•"/>
            </a:pPr>
            <a:r>
              <a:rPr lang="en-US" sz="24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Weight: about 35 kg</a:t>
            </a:r>
          </a:p>
          <a:p>
            <a:pPr algn="l" marL="529085" indent="-264543" lvl="1">
              <a:lnSpc>
                <a:spcPts val="3185"/>
              </a:lnSpc>
              <a:buFont typeface="Arial"/>
              <a:buChar char="•"/>
            </a:pPr>
            <a:r>
              <a:rPr lang="en-US" sz="24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Degrees of freedom: 23–43 joints depending on model</a:t>
            </a:r>
          </a:p>
          <a:p>
            <a:pPr algn="l" marL="529085" indent="-264543" lvl="1">
              <a:lnSpc>
                <a:spcPts val="3185"/>
              </a:lnSpc>
              <a:buFont typeface="Arial"/>
              <a:buChar char="•"/>
            </a:pPr>
            <a:r>
              <a:rPr lang="en-US" sz="24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Arm payload: about 2–3 kg</a:t>
            </a:r>
          </a:p>
          <a:p>
            <a:pPr algn="l" marL="529085" indent="-264543" lvl="1">
              <a:lnSpc>
                <a:spcPts val="3185"/>
              </a:lnSpc>
              <a:buFont typeface="Arial"/>
              <a:buChar char="•"/>
            </a:pPr>
            <a:r>
              <a:rPr lang="en-US" sz="24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Battery life: around 1–2 hours</a:t>
            </a:r>
          </a:p>
          <a:p>
            <a:pPr algn="l" marL="529085" indent="-264543" lvl="1">
              <a:lnSpc>
                <a:spcPts val="3185"/>
              </a:lnSpc>
              <a:buFont typeface="Arial"/>
              <a:buChar char="•"/>
            </a:pPr>
            <a:r>
              <a:rPr lang="en-US" sz="24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Sensors include 3D LiDAR, depth cameras, microphones, and speakers. </a:t>
            </a:r>
          </a:p>
          <a:p>
            <a:pPr algn="l">
              <a:lnSpc>
                <a:spcPts val="3185"/>
              </a:lnSpc>
            </a:pPr>
          </a:p>
          <a:p>
            <a:pPr algn="l">
              <a:lnSpc>
                <a:spcPts val="3185"/>
              </a:lnSpc>
            </a:pPr>
            <a:r>
              <a:rPr lang="en-US" sz="24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High degrees of freedom allow the robot to perform human-like movements such as:</a:t>
            </a:r>
          </a:p>
          <a:p>
            <a:pPr algn="l" marL="529085" indent="-264543" lvl="1">
              <a:lnSpc>
                <a:spcPts val="3185"/>
              </a:lnSpc>
              <a:buFont typeface="Arial"/>
              <a:buChar char="•"/>
            </a:pPr>
            <a:r>
              <a:rPr lang="en-US" sz="24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walking</a:t>
            </a:r>
          </a:p>
          <a:p>
            <a:pPr algn="l" marL="529085" indent="-264543" lvl="1">
              <a:lnSpc>
                <a:spcPts val="3185"/>
              </a:lnSpc>
              <a:buFont typeface="Arial"/>
              <a:buChar char="•"/>
            </a:pPr>
            <a:r>
              <a:rPr lang="en-US" sz="24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running</a:t>
            </a:r>
          </a:p>
          <a:p>
            <a:pPr algn="l" marL="529085" indent="-264543" lvl="1">
              <a:lnSpc>
                <a:spcPts val="3185"/>
              </a:lnSpc>
              <a:buFont typeface="Arial"/>
              <a:buChar char="•"/>
            </a:pPr>
            <a:r>
              <a:rPr lang="en-US" sz="24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jumping</a:t>
            </a:r>
          </a:p>
          <a:p>
            <a:pPr algn="l" marL="529085" indent="-264543" lvl="1">
              <a:lnSpc>
                <a:spcPts val="3185"/>
              </a:lnSpc>
              <a:buFont typeface="Arial"/>
              <a:buChar char="•"/>
            </a:pPr>
            <a:r>
              <a:rPr lang="en-US" sz="24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manipulation</a:t>
            </a:r>
          </a:p>
          <a:p>
            <a:pPr algn="l">
              <a:lnSpc>
                <a:spcPts val="3185"/>
              </a:lnSpc>
            </a:pPr>
          </a:p>
          <a:p>
            <a:pPr algn="l">
              <a:lnSpc>
                <a:spcPts val="3185"/>
              </a:lnSpc>
              <a:spcBef>
                <a:spcPct val="0"/>
              </a:spcBef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2012082" y="2036136"/>
            <a:ext cx="5247218" cy="5247218"/>
          </a:xfrm>
          <a:custGeom>
            <a:avLst/>
            <a:gdLst/>
            <a:ahLst/>
            <a:cxnLst/>
            <a:rect r="r" b="b" t="t" l="l"/>
            <a:pathLst>
              <a:path h="5247218" w="5247218">
                <a:moveTo>
                  <a:pt x="0" y="0"/>
                </a:moveTo>
                <a:lnTo>
                  <a:pt x="5247218" y="0"/>
                </a:lnTo>
                <a:lnTo>
                  <a:pt x="5247218" y="5247217"/>
                </a:lnTo>
                <a:lnTo>
                  <a:pt x="0" y="52472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07535" y="9515475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000000"/>
                </a:solidFill>
                <a:latin typeface="Gordita Bold"/>
                <a:ea typeface="Gordita Bold"/>
                <a:cs typeface="Gordita Bold"/>
                <a:sym typeface="Gordita Bold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240375" y="0"/>
            <a:ext cx="47625" cy="10287000"/>
            <a:chOff x="0" y="0"/>
            <a:chExt cx="1254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43" cy="2709333"/>
            </a:xfrm>
            <a:custGeom>
              <a:avLst/>
              <a:gdLst/>
              <a:ahLst/>
              <a:cxnLst/>
              <a:rect r="r" b="b" t="t" l="l"/>
              <a:pathLst>
                <a:path h="2709333" w="12543">
                  <a:moveTo>
                    <a:pt x="0" y="0"/>
                  </a:moveTo>
                  <a:lnTo>
                    <a:pt x="12543" y="0"/>
                  </a:lnTo>
                  <a:lnTo>
                    <a:pt x="1254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DFDF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2543" cy="27283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63384" y="687581"/>
            <a:ext cx="12267766" cy="7540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5"/>
              </a:lnSpc>
            </a:pPr>
            <a:r>
              <a:rPr lang="en-US" sz="2550" b="true">
                <a:solidFill>
                  <a:srgbClr val="000000"/>
                </a:solidFill>
                <a:latin typeface="Gordita Bold"/>
                <a:ea typeface="Gordita Bold"/>
                <a:cs typeface="Gordita Bold"/>
                <a:sym typeface="Gordita Bold"/>
              </a:rPr>
              <a:t>Unitree Go2 Robotic Dog</a:t>
            </a:r>
          </a:p>
          <a:p>
            <a:pPr algn="l">
              <a:lnSpc>
                <a:spcPts val="3315"/>
              </a:lnSpc>
            </a:pPr>
          </a:p>
          <a:p>
            <a:pPr algn="l">
              <a:lnSpc>
                <a:spcPts val="3315"/>
              </a:lnSpc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What is Go2?</a:t>
            </a:r>
          </a:p>
          <a:p>
            <a:pPr algn="l">
              <a:lnSpc>
                <a:spcPts val="3315"/>
              </a:lnSpc>
            </a:pPr>
          </a:p>
          <a:p>
            <a:pPr algn="l">
              <a:lnSpc>
                <a:spcPts val="3315"/>
              </a:lnSpc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Go2 is a quadruped robot, meaning it walks on four legs similar to an animal.</a:t>
            </a:r>
          </a:p>
          <a:p>
            <a:pPr algn="l">
              <a:lnSpc>
                <a:spcPts val="3315"/>
              </a:lnSpc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It is designed for:</a:t>
            </a:r>
          </a:p>
          <a:p>
            <a:pPr algn="l" marL="550675" indent="-275337" lvl="1">
              <a:lnSpc>
                <a:spcPts val="3315"/>
              </a:lnSpc>
              <a:buFont typeface="Arial"/>
              <a:buChar char="•"/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research</a:t>
            </a:r>
          </a:p>
          <a:p>
            <a:pPr algn="l" marL="550675" indent="-275337" lvl="1">
              <a:lnSpc>
                <a:spcPts val="3315"/>
              </a:lnSpc>
              <a:buFont typeface="Arial"/>
              <a:buChar char="•"/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inspection</a:t>
            </a:r>
          </a:p>
          <a:p>
            <a:pPr algn="l" marL="550675" indent="-275337" lvl="1">
              <a:lnSpc>
                <a:spcPts val="3315"/>
              </a:lnSpc>
              <a:buFont typeface="Arial"/>
              <a:buChar char="•"/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AI development</a:t>
            </a:r>
          </a:p>
          <a:p>
            <a:pPr algn="l" marL="550675" indent="-275337" lvl="1">
              <a:lnSpc>
                <a:spcPts val="3315"/>
              </a:lnSpc>
              <a:buFont typeface="Arial"/>
              <a:buChar char="•"/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search and rescue</a:t>
            </a:r>
          </a:p>
          <a:p>
            <a:pPr algn="l">
              <a:lnSpc>
                <a:spcPts val="3315"/>
              </a:lnSpc>
            </a:pPr>
          </a:p>
          <a:p>
            <a:pPr algn="l">
              <a:lnSpc>
                <a:spcPts val="3315"/>
              </a:lnSpc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Technical highlights</a:t>
            </a:r>
          </a:p>
          <a:p>
            <a:pPr algn="l" marL="550675" indent="-275337" lvl="1">
              <a:lnSpc>
                <a:spcPts val="3315"/>
              </a:lnSpc>
              <a:buFont typeface="Arial"/>
              <a:buChar char="•"/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Sp</a:t>
            </a: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eed up to 2.5 m/s </a:t>
            </a:r>
          </a:p>
          <a:p>
            <a:pPr algn="l" marL="550675" indent="-275337" lvl="1">
              <a:lnSpc>
                <a:spcPts val="3315"/>
              </a:lnSpc>
              <a:buFont typeface="Arial"/>
              <a:buChar char="•"/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Paylo</a:t>
            </a: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ad up to about 10 kg </a:t>
            </a:r>
          </a:p>
          <a:p>
            <a:pPr algn="l" marL="550675" indent="-275337" lvl="1">
              <a:lnSpc>
                <a:spcPts val="3315"/>
              </a:lnSpc>
              <a:buFont typeface="Arial"/>
              <a:buChar char="•"/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Equ</a:t>
            </a: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ipped with 4D LiDAR for environment sensing </a:t>
            </a:r>
          </a:p>
          <a:p>
            <a:pPr algn="l" marL="550675" indent="-275337" lvl="1">
              <a:lnSpc>
                <a:spcPts val="3315"/>
              </a:lnSpc>
              <a:buFont typeface="Arial"/>
              <a:buChar char="•"/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Onboard AI computing</a:t>
            </a:r>
          </a:p>
          <a:p>
            <a:pPr algn="l">
              <a:lnSpc>
                <a:spcPts val="3315"/>
              </a:lnSpc>
            </a:pPr>
          </a:p>
          <a:p>
            <a:pPr algn="l">
              <a:lnSpc>
                <a:spcPts val="3315"/>
              </a:lnSpc>
              <a:spcBef>
                <a:spcPct val="0"/>
              </a:spcBef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1358487" y="3047857"/>
            <a:ext cx="6210443" cy="6210443"/>
          </a:xfrm>
          <a:custGeom>
            <a:avLst/>
            <a:gdLst/>
            <a:ahLst/>
            <a:cxnLst/>
            <a:rect r="r" b="b" t="t" l="l"/>
            <a:pathLst>
              <a:path h="6210443" w="6210443">
                <a:moveTo>
                  <a:pt x="0" y="0"/>
                </a:moveTo>
                <a:lnTo>
                  <a:pt x="6210444" y="0"/>
                </a:lnTo>
                <a:lnTo>
                  <a:pt x="6210444" y="6210443"/>
                </a:lnTo>
                <a:lnTo>
                  <a:pt x="0" y="62104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07535" y="9515475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000000"/>
                </a:solidFill>
                <a:latin typeface="Gordita Bold"/>
                <a:ea typeface="Gordita Bold"/>
                <a:cs typeface="Gordita Bold"/>
                <a:sym typeface="Gordita Bol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545050" y="9515475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000000"/>
                </a:solidFill>
                <a:latin typeface="Gordita Bold"/>
                <a:ea typeface="Gordita Bold"/>
                <a:cs typeface="Gordita Bold"/>
                <a:sym typeface="Gordita Bold"/>
              </a:rPr>
              <a:t>11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8240375" y="0"/>
            <a:ext cx="47625" cy="10287000"/>
            <a:chOff x="0" y="0"/>
            <a:chExt cx="1254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543" cy="2709333"/>
            </a:xfrm>
            <a:custGeom>
              <a:avLst/>
              <a:gdLst/>
              <a:ahLst/>
              <a:cxnLst/>
              <a:rect r="r" b="b" t="t" l="l"/>
              <a:pathLst>
                <a:path h="2709333" w="12543">
                  <a:moveTo>
                    <a:pt x="0" y="0"/>
                  </a:moveTo>
                  <a:lnTo>
                    <a:pt x="12543" y="0"/>
                  </a:lnTo>
                  <a:lnTo>
                    <a:pt x="1254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DFDF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12543" cy="27283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363384" y="687581"/>
            <a:ext cx="8394582" cy="9636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5"/>
              </a:lnSpc>
            </a:pPr>
            <a:r>
              <a:rPr lang="en-US" sz="2550" b="true">
                <a:solidFill>
                  <a:srgbClr val="000000"/>
                </a:solidFill>
                <a:latin typeface="Gordita Bold"/>
                <a:ea typeface="Gordita Bold"/>
                <a:cs typeface="Gordita Bold"/>
                <a:sym typeface="Gordita Bold"/>
              </a:rPr>
              <a:t>AI Capabilities of Robot Dogs</a:t>
            </a:r>
          </a:p>
          <a:p>
            <a:pPr algn="l">
              <a:lnSpc>
                <a:spcPts val="3315"/>
              </a:lnSpc>
            </a:pPr>
          </a:p>
          <a:p>
            <a:pPr algn="l">
              <a:lnSpc>
                <a:spcPts val="3315"/>
              </a:lnSpc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Quadruped robots focus on mobility and autonomy.</a:t>
            </a:r>
          </a:p>
          <a:p>
            <a:pPr algn="l">
              <a:lnSpc>
                <a:spcPts val="3315"/>
              </a:lnSpc>
            </a:pPr>
          </a:p>
          <a:p>
            <a:pPr algn="l">
              <a:lnSpc>
                <a:spcPts val="3315"/>
              </a:lnSpc>
            </a:pPr>
            <a:r>
              <a:rPr lang="en-US" sz="2550" b="true">
                <a:solidFill>
                  <a:srgbClr val="000000"/>
                </a:solidFill>
                <a:latin typeface="Gordita Bold"/>
                <a:ea typeface="Gordita Bold"/>
                <a:cs typeface="Gordita Bold"/>
                <a:sym typeface="Gordita Bold"/>
              </a:rPr>
              <a:t>AI technologies used</a:t>
            </a:r>
          </a:p>
          <a:p>
            <a:pPr algn="l">
              <a:lnSpc>
                <a:spcPts val="3315"/>
              </a:lnSpc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Reinforcement learning</a:t>
            </a:r>
          </a:p>
          <a:p>
            <a:pPr algn="l">
              <a:lnSpc>
                <a:spcPts val="3315"/>
              </a:lnSpc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 Locomotion control</a:t>
            </a:r>
          </a:p>
          <a:p>
            <a:pPr algn="l">
              <a:lnSpc>
                <a:spcPts val="3315"/>
              </a:lnSpc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 Ob</a:t>
            </a: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stacle avoidance</a:t>
            </a:r>
          </a:p>
          <a:p>
            <a:pPr algn="l">
              <a:lnSpc>
                <a:spcPts val="3315"/>
              </a:lnSpc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 Autonomous exp</a:t>
            </a: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lor</a:t>
            </a: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ation</a:t>
            </a:r>
          </a:p>
          <a:p>
            <a:pPr algn="l">
              <a:lnSpc>
                <a:spcPts val="3315"/>
              </a:lnSpc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 3D mapping</a:t>
            </a:r>
          </a:p>
          <a:p>
            <a:pPr algn="l">
              <a:lnSpc>
                <a:spcPts val="3315"/>
              </a:lnSpc>
            </a:pPr>
          </a:p>
          <a:p>
            <a:pPr algn="l">
              <a:lnSpc>
                <a:spcPts val="3315"/>
              </a:lnSpc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Robot dogs can:</a:t>
            </a:r>
          </a:p>
          <a:p>
            <a:pPr algn="l" marL="550675" indent="-275337" lvl="1">
              <a:lnSpc>
                <a:spcPts val="3315"/>
              </a:lnSpc>
              <a:buFont typeface="Arial"/>
              <a:buChar char="•"/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walk on rough terrain</a:t>
            </a:r>
          </a:p>
          <a:p>
            <a:pPr algn="l" marL="550675" indent="-275337" lvl="1">
              <a:lnSpc>
                <a:spcPts val="3315"/>
              </a:lnSpc>
              <a:buFont typeface="Arial"/>
              <a:buChar char="•"/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cl</a:t>
            </a: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imb slopes</a:t>
            </a:r>
          </a:p>
          <a:p>
            <a:pPr algn="l" marL="550675" indent="-275337" lvl="1">
              <a:lnSpc>
                <a:spcPts val="3315"/>
              </a:lnSpc>
              <a:buFont typeface="Arial"/>
              <a:buChar char="•"/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inspect dangerous environments</a:t>
            </a:r>
          </a:p>
          <a:p>
            <a:pPr algn="l">
              <a:lnSpc>
                <a:spcPts val="3315"/>
              </a:lnSpc>
            </a:pPr>
          </a:p>
          <a:p>
            <a:pPr algn="l">
              <a:lnSpc>
                <a:spcPts val="3315"/>
              </a:lnSpc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They are used in:</a:t>
            </a:r>
          </a:p>
          <a:p>
            <a:pPr algn="l" marL="550675" indent="-275337" lvl="1">
              <a:lnSpc>
                <a:spcPts val="3315"/>
              </a:lnSpc>
              <a:buFont typeface="Arial"/>
              <a:buChar char="•"/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industrial inspection</a:t>
            </a:r>
          </a:p>
          <a:p>
            <a:pPr algn="l" marL="550675" indent="-275337" lvl="1">
              <a:lnSpc>
                <a:spcPts val="3315"/>
              </a:lnSpc>
              <a:buFont typeface="Arial"/>
              <a:buChar char="•"/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military robotics</a:t>
            </a:r>
          </a:p>
          <a:p>
            <a:pPr algn="l" marL="550675" indent="-275337" lvl="1">
              <a:lnSpc>
                <a:spcPts val="3315"/>
              </a:lnSpc>
              <a:buFont typeface="Arial"/>
              <a:buChar char="•"/>
            </a:pPr>
            <a:r>
              <a:rPr lang="en-US" sz="2550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disaster response</a:t>
            </a:r>
          </a:p>
          <a:p>
            <a:pPr algn="l">
              <a:lnSpc>
                <a:spcPts val="3315"/>
              </a:lnSpc>
            </a:pPr>
          </a:p>
          <a:p>
            <a:pPr algn="l">
              <a:lnSpc>
                <a:spcPts val="3315"/>
              </a:lnSpc>
            </a:pPr>
          </a:p>
          <a:p>
            <a:pPr algn="l">
              <a:lnSpc>
                <a:spcPts val="3315"/>
              </a:lnSpc>
              <a:spcBef>
                <a:spcPct val="0"/>
              </a:spcBef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1358487" y="3047857"/>
            <a:ext cx="6210443" cy="6210443"/>
          </a:xfrm>
          <a:custGeom>
            <a:avLst/>
            <a:gdLst/>
            <a:ahLst/>
            <a:cxnLst/>
            <a:rect r="r" b="b" t="t" l="l"/>
            <a:pathLst>
              <a:path h="6210443" w="6210443">
                <a:moveTo>
                  <a:pt x="0" y="0"/>
                </a:moveTo>
                <a:lnTo>
                  <a:pt x="6210444" y="0"/>
                </a:lnTo>
                <a:lnTo>
                  <a:pt x="6210444" y="6210443"/>
                </a:lnTo>
                <a:lnTo>
                  <a:pt x="0" y="62104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DAHDkPKoFHo</dc:identifier>
  <dcterms:modified xsi:type="dcterms:W3CDTF">2011-08-01T06:04:30Z</dcterms:modified>
  <cp:revision>1</cp:revision>
  <dc:title>Week 9</dc:title>
</cp:coreProperties>
</file>